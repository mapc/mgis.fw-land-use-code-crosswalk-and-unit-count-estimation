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57BF-AC07-C747-E2D7-E112942D8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F05BA-D27C-0561-C103-44973E472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F46F8-4C14-4492-65F0-960F5A168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5594E-45BD-CA44-2EE5-E23EF908B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C202D-C840-2AA0-7B2C-CE97A492A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9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0852D-136C-E604-76FA-E3A1E2A4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668CB-D8CC-B9DC-380C-4AA5354D3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F84B4-22B5-1CF7-5BE5-248F6983D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99025-96B4-362A-A870-D3448ED7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B82D8-1880-F50C-6021-BED39D76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9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3A20-CCA8-6D6E-ACB9-37DF6ED6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ED070-9F94-4A7F-22C3-0E9D9D4DF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5F87C-EF3F-FF2F-CE6F-B41080E90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06425-746A-F10D-B9E6-1841AE89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AFFE-1C58-9C11-7E3D-0678EC32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54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92A9-6F22-5E99-2406-1487866D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92473-586F-7A1C-9D7F-1AA810B05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ED31D-A8D1-2CAB-7E78-F6C890302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5CBA7-A287-1228-1F05-E2FD777B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A8ED9-A952-1710-3137-5C0244E1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6CEB3-43EE-D23F-F53F-9DD3A3D1D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6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7859D-9CA6-9E7C-5CF5-F9D659B84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9EF7C-295C-EB61-AEF6-71FA8904E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938A7-1C22-A0B4-DFA4-6D3BA8910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291BAA-4875-DC19-D56F-23FF83991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6EBCDB-1357-0B2B-9E9E-3D402AC49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046C3-FDA8-10CD-B872-54217BA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7797A7-744A-A851-9E96-CC94B0B00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487050-4B95-D84C-DE66-E28025F9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1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D0FD-B409-1678-9F95-629E6529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6E3E87-44C7-9236-AEEB-567CBC293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CBB1C-368C-78FC-0D33-B87F054C0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F6BD3D-D357-B3B2-9F7B-5F86AC3D6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86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F25FE-1763-6AA1-B2E3-2BC2C63D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2EF7AE-4E31-5006-F407-FCCA4DB6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E6656-D79E-220A-157B-8216F5FB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2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DF238-5717-9892-FDCD-7FBDB4B1A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57672-D760-EA76-F9B5-2AEDF3BD7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FF28B-9E4F-E0E0-6B87-886CCD3F1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6139E-D75A-41F5-143A-DB65F0125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74438-3D44-8428-4ACB-3C022EB6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58345-4B5F-498C-B6BF-F5BE420D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1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DC9E5-1653-4E14-995A-D7C5CAF9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57302F-1D2F-D9CA-9666-B667857E3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E4D70-A9F1-CCDB-E9A5-02737AD5F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CF29E-666B-5014-20B4-F5622CD88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A209D-083A-9F7B-CCF5-8427B870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FA14C-B636-38BC-CFAE-702A5D75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7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5C07-2B0C-AA36-BF9A-08FB7BAB9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F81C6-E1C4-B286-9BAE-093C3C013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233CA-2BD8-E85B-956A-B6FE81509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776E1-47BA-E7AD-190A-D5C50F05B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89450-C0B2-8F40-2A96-A8183A306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68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C00740-657C-9105-C0CB-67EA90ADC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3B48D-2C17-3E94-F82A-7AB0062C6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9504F-F2D5-37D9-EDEC-87EE41DF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FCB7B-782B-C877-F949-89125CBA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C168B-4E36-9F1F-EF5A-C14294D6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14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14630E-2AEB-C07D-D180-4911771E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EBC3F-792D-CB56-B379-3FEE76A30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EE4C5-2000-F70F-84FF-22831746A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A43AF-29DD-48D3-958F-4CBFBBE99A0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155FB-7E7E-F226-3F44-850803BE6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C2CD5-C183-E7B8-6CD4-C6FB45ECB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732BE-6C02-4ADE-8B56-088A5A278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9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9E2CE4F-9604-31CE-5C8E-247F7D07CF4C}"/>
              </a:ext>
            </a:extLst>
          </p:cNvPr>
          <p:cNvSpPr/>
          <p:nvPr/>
        </p:nvSpPr>
        <p:spPr>
          <a:xfrm>
            <a:off x="934065" y="341640"/>
            <a:ext cx="1592825" cy="14773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5351CF-C5E1-DDDC-61C6-95D9A6713EBA}"/>
              </a:ext>
            </a:extLst>
          </p:cNvPr>
          <p:cNvSpPr/>
          <p:nvPr/>
        </p:nvSpPr>
        <p:spPr>
          <a:xfrm>
            <a:off x="4154128" y="194974"/>
            <a:ext cx="1327355" cy="9737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EB6BE1-E599-1CA7-239F-4BA82AAD0DC7}"/>
              </a:ext>
            </a:extLst>
          </p:cNvPr>
          <p:cNvSpPr/>
          <p:nvPr/>
        </p:nvSpPr>
        <p:spPr>
          <a:xfrm>
            <a:off x="4173793" y="1337834"/>
            <a:ext cx="1327355" cy="9523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CD26BAD-3B06-A2B7-7938-E6676796114A}"/>
              </a:ext>
            </a:extLst>
          </p:cNvPr>
          <p:cNvSpPr/>
          <p:nvPr/>
        </p:nvSpPr>
        <p:spPr>
          <a:xfrm>
            <a:off x="7108722" y="311012"/>
            <a:ext cx="1592825" cy="15767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C126A9-91D6-B2B7-0C39-92385F005A4A}"/>
              </a:ext>
            </a:extLst>
          </p:cNvPr>
          <p:cNvSpPr/>
          <p:nvPr/>
        </p:nvSpPr>
        <p:spPr>
          <a:xfrm>
            <a:off x="10471352" y="254168"/>
            <a:ext cx="1327355" cy="6194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5315D9-99E4-B880-9337-4C9F01D9EB92}"/>
              </a:ext>
            </a:extLst>
          </p:cNvPr>
          <p:cNvSpPr/>
          <p:nvPr/>
        </p:nvSpPr>
        <p:spPr>
          <a:xfrm>
            <a:off x="10471352" y="1168708"/>
            <a:ext cx="1327355" cy="13482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DFFCAB9-80DB-7159-9E51-74F05F2565F7}"/>
              </a:ext>
            </a:extLst>
          </p:cNvPr>
          <p:cNvSpPr/>
          <p:nvPr/>
        </p:nvSpPr>
        <p:spPr>
          <a:xfrm>
            <a:off x="995514" y="3494640"/>
            <a:ext cx="1762433" cy="23892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7B3BEAF3-051B-12EC-082B-8D40F068714E}"/>
              </a:ext>
            </a:extLst>
          </p:cNvPr>
          <p:cNvSpPr/>
          <p:nvPr/>
        </p:nvSpPr>
        <p:spPr>
          <a:xfrm>
            <a:off x="3910781" y="3079614"/>
            <a:ext cx="1199536" cy="912296"/>
          </a:xfrm>
          <a:prstGeom prst="snip2Diag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82D54C6A-BF40-B8CA-6C2F-EAC42670B688}"/>
              </a:ext>
            </a:extLst>
          </p:cNvPr>
          <p:cNvSpPr/>
          <p:nvPr/>
        </p:nvSpPr>
        <p:spPr>
          <a:xfrm>
            <a:off x="3910776" y="4252499"/>
            <a:ext cx="1199536" cy="873520"/>
          </a:xfrm>
          <a:prstGeom prst="snip2Diag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0D5934DF-F04F-794F-55F1-B2B14D13F5F4}"/>
              </a:ext>
            </a:extLst>
          </p:cNvPr>
          <p:cNvSpPr/>
          <p:nvPr/>
        </p:nvSpPr>
        <p:spPr>
          <a:xfrm>
            <a:off x="3910781" y="5432322"/>
            <a:ext cx="1199536" cy="991705"/>
          </a:xfrm>
          <a:prstGeom prst="snip2Diag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150EF1-0012-D07A-C82F-4874B6000377}"/>
              </a:ext>
            </a:extLst>
          </p:cNvPr>
          <p:cNvSpPr txBox="1"/>
          <p:nvPr/>
        </p:nvSpPr>
        <p:spPr>
          <a:xfrm>
            <a:off x="1229032" y="733801"/>
            <a:ext cx="1081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MassGIS</a:t>
            </a:r>
            <a:r>
              <a:rPr lang="en-US" sz="1200" dirty="0"/>
              <a:t> PTP </a:t>
            </a:r>
            <a:r>
              <a:rPr lang="en-US" sz="1200" dirty="0" err="1"/>
              <a:t>GeoDB</a:t>
            </a:r>
            <a:r>
              <a:rPr lang="en-US" sz="1200" dirty="0"/>
              <a:t> L3_UC_LUT 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FA9AC-E42B-FCF2-2293-ECF8D424F7A5}"/>
              </a:ext>
            </a:extLst>
          </p:cNvPr>
          <p:cNvSpPr txBox="1"/>
          <p:nvPr/>
        </p:nvSpPr>
        <p:spPr>
          <a:xfrm>
            <a:off x="4296695" y="1337835"/>
            <a:ext cx="1081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DLS Standard Use Codes</a:t>
            </a:r>
          </a:p>
          <a:p>
            <a:r>
              <a:rPr lang="en-US" sz="1200" dirty="0"/>
              <a:t>N=307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5C8E2B-51ED-55A5-08A4-FB785A4B6985}"/>
              </a:ext>
            </a:extLst>
          </p:cNvPr>
          <p:cNvSpPr txBox="1"/>
          <p:nvPr/>
        </p:nvSpPr>
        <p:spPr>
          <a:xfrm>
            <a:off x="4257368" y="311013"/>
            <a:ext cx="1081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Municipal Specific Use Codes</a:t>
            </a:r>
          </a:p>
          <a:p>
            <a:r>
              <a:rPr lang="en-US" sz="1200" dirty="0"/>
              <a:t>N=10,056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C80C3-F9CD-3313-2FF7-6AA2C6AEA901}"/>
              </a:ext>
            </a:extLst>
          </p:cNvPr>
          <p:cNvSpPr txBox="1"/>
          <p:nvPr/>
        </p:nvSpPr>
        <p:spPr>
          <a:xfrm>
            <a:off x="2829232" y="433972"/>
            <a:ext cx="10815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Filter on TOWN_ID (TOWN_ID = 0 indicates DLS Standard Code)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B815418-EC8C-6B36-8393-F9168F36650C}"/>
              </a:ext>
            </a:extLst>
          </p:cNvPr>
          <p:cNvCxnSpPr>
            <a:cxnSpLocks/>
            <a:stCxn id="18" idx="3"/>
            <a:endCxn id="6" idx="1"/>
          </p:cNvCxnSpPr>
          <p:nvPr/>
        </p:nvCxnSpPr>
        <p:spPr>
          <a:xfrm>
            <a:off x="3910781" y="1126470"/>
            <a:ext cx="263012" cy="6875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AD4BB28-4348-E97B-34CF-51DE10638A86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 flipV="1">
            <a:off x="3910781" y="681841"/>
            <a:ext cx="243347" cy="44462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772D63-509C-AAEE-FAB5-E796CF2330D0}"/>
              </a:ext>
            </a:extLst>
          </p:cNvPr>
          <p:cNvCxnSpPr>
            <a:stCxn id="4" idx="6"/>
            <a:endCxn id="18" idx="1"/>
          </p:cNvCxnSpPr>
          <p:nvPr/>
        </p:nvCxnSpPr>
        <p:spPr>
          <a:xfrm>
            <a:off x="2526890" y="1080304"/>
            <a:ext cx="302342" cy="461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E34E426-17C9-B08D-ED9A-FE52020F0385}"/>
              </a:ext>
            </a:extLst>
          </p:cNvPr>
          <p:cNvSpPr txBox="1"/>
          <p:nvPr/>
        </p:nvSpPr>
        <p:spPr>
          <a:xfrm>
            <a:off x="7379110" y="572471"/>
            <a:ext cx="10815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Full join Standard and Municipal Specific Use Codes.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AC0A3E-6EC4-B96E-103F-1992A8EB68C4}"/>
              </a:ext>
            </a:extLst>
          </p:cNvPr>
          <p:cNvSpPr txBox="1"/>
          <p:nvPr/>
        </p:nvSpPr>
        <p:spPr>
          <a:xfrm>
            <a:off x="5771536" y="618638"/>
            <a:ext cx="1081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Create 3-digit </a:t>
            </a:r>
            <a:r>
              <a:rPr lang="en-US" sz="1200" dirty="0" err="1"/>
              <a:t>xwalk</a:t>
            </a:r>
            <a:r>
              <a:rPr lang="en-US" sz="1200" dirty="0"/>
              <a:t> based on the first three digits of the land use code.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6EFA6A-A46E-58A9-E5B5-47AD12BBC336}"/>
              </a:ext>
            </a:extLst>
          </p:cNvPr>
          <p:cNvSpPr txBox="1"/>
          <p:nvPr/>
        </p:nvSpPr>
        <p:spPr>
          <a:xfrm>
            <a:off x="8898195" y="615018"/>
            <a:ext cx="12536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Filter on “UNDEFINED” text which replaces NA in Standard Use Code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A832AC8-70A3-74BB-0B0E-7DED490D6C06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10151807" y="563884"/>
            <a:ext cx="319545" cy="6512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6754259-FC56-1979-240B-C2AED059120A}"/>
              </a:ext>
            </a:extLst>
          </p:cNvPr>
          <p:cNvCxnSpPr>
            <a:cxnSpLocks/>
            <a:stCxn id="27" idx="3"/>
            <a:endCxn id="10" idx="1"/>
          </p:cNvCxnSpPr>
          <p:nvPr/>
        </p:nvCxnSpPr>
        <p:spPr>
          <a:xfrm>
            <a:off x="10151807" y="1215183"/>
            <a:ext cx="319545" cy="6276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746B132-62A9-DD6E-FF16-B178DDCAA122}"/>
              </a:ext>
            </a:extLst>
          </p:cNvPr>
          <p:cNvCxnSpPr>
            <a:cxnSpLocks/>
            <a:stCxn id="26" idx="3"/>
            <a:endCxn id="8" idx="2"/>
          </p:cNvCxnSpPr>
          <p:nvPr/>
        </p:nvCxnSpPr>
        <p:spPr>
          <a:xfrm flipV="1">
            <a:off x="6853085" y="1099403"/>
            <a:ext cx="255637" cy="119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7BA99B6-C97E-F123-FC07-E8EE483513A4}"/>
              </a:ext>
            </a:extLst>
          </p:cNvPr>
          <p:cNvCxnSpPr>
            <a:cxnSpLocks/>
            <a:stCxn id="8" idx="6"/>
            <a:endCxn id="27" idx="1"/>
          </p:cNvCxnSpPr>
          <p:nvPr/>
        </p:nvCxnSpPr>
        <p:spPr>
          <a:xfrm>
            <a:off x="8701547" y="1099403"/>
            <a:ext cx="196648" cy="115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1F0C12E-1A6C-7268-C270-B2FA92E0A39F}"/>
              </a:ext>
            </a:extLst>
          </p:cNvPr>
          <p:cNvSpPr txBox="1"/>
          <p:nvPr/>
        </p:nvSpPr>
        <p:spPr>
          <a:xfrm>
            <a:off x="10594254" y="381759"/>
            <a:ext cx="1081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Matched</a:t>
            </a:r>
          </a:p>
          <a:p>
            <a:r>
              <a:rPr lang="en-US" sz="1200" dirty="0"/>
              <a:t>N= 7,359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1FF836-EA6C-ECBA-ED9D-812220C4F7EC}"/>
              </a:ext>
            </a:extLst>
          </p:cNvPr>
          <p:cNvSpPr txBox="1"/>
          <p:nvPr/>
        </p:nvSpPr>
        <p:spPr>
          <a:xfrm>
            <a:off x="10633585" y="1332890"/>
            <a:ext cx="10815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Unmatched</a:t>
            </a:r>
          </a:p>
          <a:p>
            <a:r>
              <a:rPr lang="en-US" sz="1200" dirty="0"/>
              <a:t>N= 1,606 (Mixed Use)</a:t>
            </a:r>
          </a:p>
          <a:p>
            <a:r>
              <a:rPr lang="en-US" sz="1200" dirty="0"/>
              <a:t>N=1,091 (Single Use)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8ADCBE4-1F25-EB42-1C74-C03A4A1AD402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H="1">
            <a:off x="995514" y="1842840"/>
            <a:ext cx="10803193" cy="2846420"/>
          </a:xfrm>
          <a:prstGeom prst="bentConnector5">
            <a:avLst>
              <a:gd name="adj1" fmla="val -2116"/>
              <a:gd name="adj2" fmla="val 40857"/>
              <a:gd name="adj3" fmla="val 1021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30F4A39-FBAA-A078-0D00-FF42F012D9E4}"/>
              </a:ext>
            </a:extLst>
          </p:cNvPr>
          <p:cNvSpPr txBox="1"/>
          <p:nvPr/>
        </p:nvSpPr>
        <p:spPr>
          <a:xfrm>
            <a:off x="1129481" y="4044017"/>
            <a:ext cx="1469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Administer text analysis: flag for compliance with three-digit Standard Use Code based on a match of unique terms.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0792F999-0DF5-C377-A1E0-F18A0ACB0DA0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 flipV="1">
            <a:off x="2757947" y="3535762"/>
            <a:ext cx="1152834" cy="11534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00C2616E-E9C0-94CD-F114-FF32E397DB8F}"/>
              </a:ext>
            </a:extLst>
          </p:cNvPr>
          <p:cNvCxnSpPr>
            <a:cxnSpLocks/>
            <a:stCxn id="11" idx="3"/>
            <a:endCxn id="14" idx="2"/>
          </p:cNvCxnSpPr>
          <p:nvPr/>
        </p:nvCxnSpPr>
        <p:spPr>
          <a:xfrm>
            <a:off x="2757947" y="4689260"/>
            <a:ext cx="1152834" cy="12389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68B7C585-FA85-9B19-5CE9-5F39BBCF44D9}"/>
              </a:ext>
            </a:extLst>
          </p:cNvPr>
          <p:cNvCxnSpPr>
            <a:cxnSpLocks/>
            <a:stCxn id="11" idx="3"/>
            <a:endCxn id="13" idx="2"/>
          </p:cNvCxnSpPr>
          <p:nvPr/>
        </p:nvCxnSpPr>
        <p:spPr>
          <a:xfrm flipV="1">
            <a:off x="2757947" y="4689259"/>
            <a:ext cx="1152829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1A32C50E-CD13-EA8A-16F0-77D8F1D784C7}"/>
              </a:ext>
            </a:extLst>
          </p:cNvPr>
          <p:cNvSpPr txBox="1"/>
          <p:nvPr/>
        </p:nvSpPr>
        <p:spPr>
          <a:xfrm>
            <a:off x="4042287" y="5602868"/>
            <a:ext cx="1081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DLS Duplicates</a:t>
            </a:r>
          </a:p>
          <a:p>
            <a:r>
              <a:rPr lang="en-US" sz="1200" dirty="0"/>
              <a:t>N=22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7B598D-D7C3-6E3D-C313-E56D425FD137}"/>
              </a:ext>
            </a:extLst>
          </p:cNvPr>
          <p:cNvSpPr txBox="1"/>
          <p:nvPr/>
        </p:nvSpPr>
        <p:spPr>
          <a:xfrm>
            <a:off x="4028763" y="4458426"/>
            <a:ext cx="1081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Unknowns</a:t>
            </a:r>
          </a:p>
          <a:p>
            <a:r>
              <a:rPr lang="en-US" sz="1200" dirty="0"/>
              <a:t>N=276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27E50A-6BC2-F7DC-E57A-26AFFEC25B02}"/>
              </a:ext>
            </a:extLst>
          </p:cNvPr>
          <p:cNvSpPr txBox="1"/>
          <p:nvPr/>
        </p:nvSpPr>
        <p:spPr>
          <a:xfrm>
            <a:off x="4028766" y="3090326"/>
            <a:ext cx="1081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Flagged for Single or Multiple Use</a:t>
            </a:r>
          </a:p>
          <a:p>
            <a:r>
              <a:rPr lang="en-US" sz="1200" dirty="0"/>
              <a:t>N=793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5F677A7-1A7D-3CB1-F6EA-F5B3041E0259}"/>
              </a:ext>
            </a:extLst>
          </p:cNvPr>
          <p:cNvSpPr txBox="1"/>
          <p:nvPr/>
        </p:nvSpPr>
        <p:spPr>
          <a:xfrm>
            <a:off x="1129481" y="3090326"/>
            <a:ext cx="146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SINGLE USE</a:t>
            </a:r>
          </a:p>
        </p:txBody>
      </p:sp>
    </p:spTree>
    <p:extLst>
      <p:ext uri="{BB962C8B-B14F-4D97-AF65-F5344CB8AC3E}">
        <p14:creationId xmlns:p14="http://schemas.microsoft.com/office/powerpoint/2010/main" val="1142938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135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Stanaway, Brandon</dc:creator>
  <cp:lastModifiedBy>Stanaway, Brandon</cp:lastModifiedBy>
  <cp:revision>10</cp:revision>
  <dcterms:created xsi:type="dcterms:W3CDTF">2026-06-12T15:06:46Z</dcterms:created>
  <dcterms:modified xsi:type="dcterms:W3CDTF">2026-06-12T15:39:10Z</dcterms:modified>
</cp:coreProperties>
</file>